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8" r:id="rId4"/>
  </p:sldMasterIdLst>
  <p:notesMasterIdLst>
    <p:notesMasterId r:id="rId18"/>
  </p:notesMasterIdLst>
  <p:handoutMasterIdLst>
    <p:handoutMasterId r:id="rId19"/>
  </p:handoutMasterIdLst>
  <p:sldIdLst>
    <p:sldId id="410" r:id="rId5"/>
    <p:sldId id="383" r:id="rId6"/>
    <p:sldId id="415" r:id="rId7"/>
    <p:sldId id="411" r:id="rId8"/>
    <p:sldId id="416" r:id="rId9"/>
    <p:sldId id="417" r:id="rId10"/>
    <p:sldId id="418" r:id="rId11"/>
    <p:sldId id="424" r:id="rId12"/>
    <p:sldId id="425" r:id="rId13"/>
    <p:sldId id="420" r:id="rId14"/>
    <p:sldId id="422" r:id="rId15"/>
    <p:sldId id="398" r:id="rId16"/>
    <p:sldId id="42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928"/>
    <a:srgbClr val="B0B7BD"/>
    <a:srgbClr val="3C5365"/>
    <a:srgbClr val="9BA8B0"/>
    <a:srgbClr val="FBA573"/>
    <a:srgbClr val="01318E"/>
    <a:srgbClr val="2B70C3"/>
    <a:srgbClr val="0000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60795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0766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344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083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8976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4146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8974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743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559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496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120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055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894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6914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916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432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710" r:id="rId16"/>
    <p:sldLayoutId id="2147483700" r:id="rId17"/>
    <p:sldLayoutId id="2147483659" r:id="rId18"/>
    <p:sldLayoutId id="2147483709" r:id="rId19"/>
    <p:sldLayoutId id="2147483708" r:id="rId20"/>
    <p:sldLayoutId id="2147483707" r:id="rId21"/>
    <p:sldLayoutId id="2147483706" r:id="rId22"/>
    <p:sldLayoutId id="2147483705" r:id="rId23"/>
    <p:sldLayoutId id="2147483704" r:id="rId2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00" userDrawn="1">
          <p15:clr>
            <a:srgbClr val="547EBF"/>
          </p15:clr>
        </p15:guide>
        <p15:guide id="2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ran-Sultan/GroupD-Car-Rental-Service" TargetMode="External"/><Relationship Id="rId2" Type="http://schemas.openxmlformats.org/officeDocument/2006/relationships/hyperlink" Target="https://faran-sultan.github.io/GroupD-Car-Rental-Service/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07DEBB-DDCA-19DA-2935-F9568F374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60000">
            <a:off x="6830698" y="352189"/>
            <a:ext cx="5082388" cy="943071"/>
          </a:xfrm>
        </p:spPr>
        <p:txBody>
          <a:bodyPr/>
          <a:lstStyle/>
          <a:p>
            <a:r>
              <a:rPr lang="en-US" dirty="0">
                <a:solidFill>
                  <a:srgbClr val="000006"/>
                </a:solidFill>
                <a:cs typeface="Times New Roman" panose="02020603050405020304" pitchFamily="18" charset="0"/>
              </a:rPr>
              <a:t>Drive Ease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8F2976CB-367B-41CD-D38D-E857861F0850}"/>
              </a:ext>
            </a:extLst>
          </p:cNvPr>
          <p:cNvSpPr/>
          <p:nvPr/>
        </p:nvSpPr>
        <p:spPr>
          <a:xfrm>
            <a:off x="8423000" y="4407524"/>
            <a:ext cx="3408218" cy="2142566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0B7BD"/>
          </a:solidFill>
          <a:ln>
            <a:solidFill>
              <a:srgbClr val="101928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. Samil            2025-GA-01</a:t>
            </a:r>
          </a:p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Faran Ahmed     2025-GA-15</a:t>
            </a:r>
          </a:p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Ahmed Mustafa 2025-GA-39</a:t>
            </a:r>
          </a:p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Adina Tanvir      2025-GA-47</a:t>
            </a:r>
          </a:p>
          <a:p>
            <a:r>
              <a:rPr lang="en-CA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Maham Javed    2025-GA-49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467D2-B8CE-640E-5A97-D634437267A6}"/>
              </a:ext>
            </a:extLst>
          </p:cNvPr>
          <p:cNvSpPr txBox="1"/>
          <p:nvPr/>
        </p:nvSpPr>
        <p:spPr>
          <a:xfrm rot="60000">
            <a:off x="6775080" y="1280160"/>
            <a:ext cx="359672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n w="12700">
                  <a:solidFill>
                    <a:schemeClr val="tx1"/>
                  </a:solidFill>
                </a:ln>
              </a:rPr>
              <a:t>Best Rental Cars in Lahore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6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1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17401"/>
            <a:ext cx="6787747" cy="1593507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957" y="2110908"/>
            <a:ext cx="6788150" cy="3709987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responsive and user-friendly car rental website.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Enable customers to view available cars and rental details.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website data with Excel for business analysis.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proficiency in HTML, CSS, and GitHub Pages.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 comprehensive project presentation.</a:t>
            </a:r>
            <a:endParaRPr lang="en-CA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14" descr="What is the Difference Between Scope and Objective - Pediaa.Com">
            <a:extLst>
              <a:ext uri="{FF2B5EF4-FFF2-40B4-BE49-F238E27FC236}">
                <a16:creationId xmlns:a16="http://schemas.microsoft.com/office/drawing/2014/main" id="{F0DD94F4-950D-367D-4D55-1E17F2A30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979" y="3334871"/>
            <a:ext cx="3190765" cy="212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CB8B-8F92-F7D1-C059-1D8C5C87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8" y="481486"/>
            <a:ext cx="6787747" cy="1593507"/>
          </a:xfrm>
        </p:spPr>
        <p:txBody>
          <a:bodyPr/>
          <a:lstStyle/>
          <a:p>
            <a:r>
              <a:rPr lang="en-CA" sz="32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Overview</a:t>
            </a:r>
            <a:endParaRPr lang="en-CA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81411-302F-008C-F29D-F9142ABF14E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Home Page: Overview of services and highlights.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Products Page: Catalog of cars, rental prices, and categories.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Contact Page: Customer inquiries and booking information.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Hosting: Live on GitHub Pages.</a:t>
            </a:r>
            <a:endParaRPr lang="en-CA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648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E269-A633-B9F6-518A-BFDE07CD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46" y="519025"/>
            <a:ext cx="4963757" cy="1593507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F64B7-227C-83D1-EC81-16CAB0D80AEB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327257" y="2470901"/>
            <a:ext cx="5914419" cy="168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Introductory banner with service highlights.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Clean navigation bar for easy access.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User-friendly layout.</a:t>
            </a:r>
          </a:p>
        </p:txBody>
      </p:sp>
      <p:pic>
        <p:nvPicPr>
          <p:cNvPr id="7" name="Picture 6" descr="A screenshot of a car rental">
            <a:extLst>
              <a:ext uri="{FF2B5EF4-FFF2-40B4-BE49-F238E27FC236}">
                <a16:creationId xmlns:a16="http://schemas.microsoft.com/office/drawing/2014/main" id="{3C9472C7-4230-8FAA-B537-7E72A0055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1391920"/>
            <a:ext cx="5498352" cy="34802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2593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1F98-9C94-F6B1-E1AB-5E5DFA51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81937"/>
            <a:ext cx="5098228" cy="1056729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PAGE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A321E-B8B4-3503-A614-3D3B2357FD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366500"/>
            <a:ext cx="5331312" cy="2352835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Car models, daily rental rates, and categories.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Filterable or sorted list for easy selection.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Clear, consistent formatting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E99B1-BB69-8462-0CE9-6D0346F9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672" y="1391691"/>
            <a:ext cx="6028466" cy="35410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58736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C16F-8493-BADD-AED7-CB592ACF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458513"/>
            <a:ext cx="5349241" cy="1593507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</a:t>
            </a:r>
            <a:r>
              <a:rPr lang="en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D9D5E-429C-B170-0AB8-8009072D01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009" y="2133600"/>
            <a:ext cx="5295453" cy="2294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Contact form with fields for inquiries.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Essential contact details (email, phone, address).</a:t>
            </a:r>
          </a:p>
          <a:p>
            <a:pPr marL="0" indent="0">
              <a:buNone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Professional, uncluttered design.</a:t>
            </a:r>
            <a:endParaRPr lang="en-CA" sz="2000" b="0" dirty="0">
              <a:solidFill>
                <a:schemeClr val="tx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727365-4AF2-6115-2D0A-9862D5EE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760" y="1255266"/>
            <a:ext cx="6122947" cy="34284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351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D5A9-EC06-C88B-5F7B-C83718B40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407675"/>
            <a:ext cx="10873740" cy="1680205"/>
          </a:xfrm>
        </p:spPr>
        <p:txBody>
          <a:bodyPr/>
          <a:lstStyle/>
          <a:p>
            <a:r>
              <a:rPr lang="en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&amp;ANALYSIS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260F0-D2E6-2003-3ADD-E4BB75DC44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40" y="2557983"/>
            <a:ext cx="5588000" cy="4117137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comparison across 16 car models from economy to luxury segment.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affordability gaps, from Suzuki Mehran to Nissan GTR.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pricing strategy, market segmentation, and consumer targeting.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decisions on fleet composition and premium offering.</a:t>
            </a:r>
          </a:p>
          <a:p>
            <a:pPr marL="0" indent="0">
              <a:buNone/>
            </a:pP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2714E3-9B99-905A-EDAC-3510FF5B9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31" r="-1"/>
          <a:stretch>
            <a:fillRect/>
          </a:stretch>
        </p:blipFill>
        <p:spPr>
          <a:xfrm>
            <a:off x="6127083" y="1925513"/>
            <a:ext cx="5719477" cy="3190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1010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764C6-B6E2-70CB-6400-BCE69209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F0C5-5F92-664C-55CA-38A268CB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407675"/>
            <a:ext cx="10873740" cy="1680205"/>
          </a:xfrm>
        </p:spPr>
        <p:txBody>
          <a:bodyPr/>
          <a:lstStyle/>
          <a:p>
            <a:r>
              <a:rPr lang="en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&amp;ANALYSIS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020BF-7A6D-B0E4-DC30-53D3812758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" y="2797219"/>
            <a:ext cx="5415279" cy="3430861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capacity comparison across 16 car models from compact to luxury class.</a:t>
            </a:r>
          </a:p>
          <a:p>
            <a:pPr>
              <a:buClrTx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range potential, from Suzuki Alto (27L) to Mercedes S500 (78L).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evaluating long-distance suitability and refueling frequency.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decisions on fleet planning and fuel efficiency strategies.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5" name="Picture 4" descr="A graph of fuel capacity&#10;&#10;AI-generated content may be incorrect.">
            <a:extLst>
              <a:ext uri="{FF2B5EF4-FFF2-40B4-BE49-F238E27FC236}">
                <a16:creationId xmlns:a16="http://schemas.microsoft.com/office/drawing/2014/main" id="{1CC3D4B3-D9D8-D48A-B3DA-BF227E19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4" y="2458720"/>
            <a:ext cx="5571746" cy="3108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1153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4349-E185-D5F2-21BA-518DAF97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AA53-A5AF-04B5-CD39-4B03A4A8F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407675"/>
            <a:ext cx="10873740" cy="1680205"/>
          </a:xfrm>
        </p:spPr>
        <p:txBody>
          <a:bodyPr/>
          <a:lstStyle/>
          <a:p>
            <a:r>
              <a:rPr lang="en-C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&amp; ANALYSIS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6E78A-1511-12F3-FFEB-20EFBF61ED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0840" y="2475795"/>
            <a:ext cx="6055360" cy="4168317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size comparison across 16 car models from compact to high-performance vehicles.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Ranges from Suzuki Alto (658 cc) to Mercedes S500 (4973 cc).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assessing power output, performance tiers, and fuel consumption expectations.</a:t>
            </a:r>
          </a:p>
          <a:p>
            <a:pPr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decisions on vehicle classification and customer preference mapping.</a:t>
            </a:r>
          </a:p>
          <a:p>
            <a:pPr marL="0" indent="0">
              <a:buNone/>
            </a:pPr>
            <a:endParaRPr lang="en-CA" sz="2400" dirty="0"/>
          </a:p>
        </p:txBody>
      </p:sp>
      <p:pic>
        <p:nvPicPr>
          <p:cNvPr id="7" name="Picture 6" descr="A graph of engine sizes&#10;&#10;AI-generated content may be incorrect.">
            <a:extLst>
              <a:ext uri="{FF2B5EF4-FFF2-40B4-BE49-F238E27FC236}">
                <a16:creationId xmlns:a16="http://schemas.microsoft.com/office/drawing/2014/main" id="{627A02E4-0BD9-52E8-F493-2726B62EF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0" y="2369511"/>
            <a:ext cx="5471160" cy="31880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2216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FCA9-5481-A95C-6822-B2C880118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652630"/>
            <a:ext cx="5486400" cy="3291840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</a:t>
            </a:r>
            <a:endParaRPr lang="en-CA" sz="3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BA09D-B009-35A0-2297-38BAB12DF8FD}"/>
              </a:ext>
            </a:extLst>
          </p:cNvPr>
          <p:cNvSpPr txBox="1"/>
          <p:nvPr/>
        </p:nvSpPr>
        <p:spPr>
          <a:xfrm>
            <a:off x="6153021" y="4060217"/>
            <a:ext cx="580016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Minimalist and professional color palette.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Consistent typography across all pages.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layout for multiple devices.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Logical separation of web content and Excel data.</a:t>
            </a: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pic>
        <p:nvPicPr>
          <p:cNvPr id="2068" name="Picture 20" descr="The BMW M340i">
            <a:extLst>
              <a:ext uri="{FF2B5EF4-FFF2-40B4-BE49-F238E27FC236}">
                <a16:creationId xmlns:a16="http://schemas.microsoft.com/office/drawing/2014/main" id="{BDB87033-5710-EF6C-8A3A-730659DB8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1" b="89947" l="10000" r="92857">
                        <a14:foregroundMark x1="65893" y1="73413" x2="66250" y2="73677"/>
                        <a14:foregroundMark x1="44405" y1="71792" x2="54762" y2="70635"/>
                        <a14:foregroundMark x1="54762" y1="70635" x2="55655" y2="72619"/>
                        <a14:foregroundMark x1="45936" y1="73118" x2="58095" y2="71825"/>
                        <a14:foregroundMark x1="58095" y1="71825" x2="58155" y2="71825"/>
                        <a14:foregroundMark x1="60655" y1="77646" x2="46279" y2="73416"/>
                        <a14:foregroundMark x1="42976" y1="66005" x2="42737" y2="68926"/>
                        <a14:foregroundMark x1="42500" y1="62566" x2="42219" y2="69896"/>
                        <a14:foregroundMark x1="41012" y1="66534" x2="42594" y2="69745"/>
                        <a14:foregroundMark x1="40595" y1="65079" x2="40771" y2="68641"/>
                        <a14:foregroundMark x1="41250" y1="67063" x2="48155" y2="71296"/>
                        <a14:foregroundMark x1="48155" y1="71296" x2="55060" y2="70238"/>
                        <a14:foregroundMark x1="55060" y1="70238" x2="55774" y2="71825"/>
                        <a14:foregroundMark x1="91250" y1="40079" x2="92857" y2="60979"/>
                        <a14:foregroundMark x1="92857" y1="60979" x2="92619" y2="62566"/>
                        <a14:foregroundMark x1="88139" y1="33722" x2="90357" y2="41005"/>
                        <a14:foregroundMark x1="41905" y1="46561" x2="40595" y2="52381"/>
                        <a14:foregroundMark x1="76045" y1="26659" x2="74345" y2="26323"/>
                        <a14:foregroundMark x1="56012" y1="36508" x2="56012" y2="36508"/>
                        <a14:foregroundMark x1="55774" y1="35450" x2="55774" y2="35450"/>
                        <a14:foregroundMark x1="56845" y1="35185" x2="56845" y2="35185"/>
                        <a14:foregroundMark x1="56845" y1="35185" x2="57381" y2="35582"/>
                        <a14:foregroundMark x1="58214" y1="35714" x2="61905" y2="30026"/>
                        <a14:foregroundMark x1="61905" y1="30026" x2="61905" y2="31085"/>
                        <a14:foregroundMark x1="63274" y1="28042" x2="63155" y2="32143"/>
                        <a14:foregroundMark x1="62679" y1="28704" x2="62857" y2="28968"/>
                        <a14:foregroundMark x1="82381" y1="27910" x2="86250" y2="30688"/>
                        <a14:foregroundMark x1="86250" y1="30688" x2="89583" y2="36111"/>
                        <a14:foregroundMark x1="89583" y1="36111" x2="89643" y2="36111"/>
                        <a14:foregroundMark x1="84345" y1="28175" x2="89762" y2="36243"/>
                        <a14:foregroundMark x1="85655" y1="29630" x2="88869" y2="34524"/>
                        <a14:foregroundMark x1="85179" y1="29233" x2="89167" y2="35714"/>
                        <a14:foregroundMark x1="89167" y1="35714" x2="89226" y2="36508"/>
                        <a14:foregroundMark x1="85952" y1="29762" x2="89107" y2="34259"/>
                        <a14:foregroundMark x1="85893" y1="29762" x2="88571" y2="36376"/>
                        <a14:foregroundMark x1="65952" y1="26852" x2="80595" y2="27646"/>
                        <a14:foregroundMark x1="77976" y1="26323" x2="76905" y2="26455"/>
                        <a14:foregroundMark x1="75714" y1="26190" x2="77560" y2="26190"/>
                        <a14:foregroundMark x1="86131" y1="30159" x2="88274" y2="32143"/>
                        <a14:backgroundMark x1="44524" y1="30026" x2="44524" y2="30026"/>
                        <a14:backgroundMark x1="48274" y1="24868" x2="48750" y2="24471"/>
                        <a14:backgroundMark x1="51071" y1="16799" x2="51071" y2="16799"/>
                        <a14:backgroundMark x1="57321" y1="25926" x2="57321" y2="25926"/>
                        <a14:backgroundMark x1="56964" y1="24868" x2="48690" y2="32804"/>
                        <a14:backgroundMark x1="67619" y1="21958" x2="61071" y2="25529"/>
                        <a14:backgroundMark x1="69702" y1="22884" x2="78571" y2="20635"/>
                        <a14:backgroundMark x1="78571" y1="20635" x2="78810" y2="22222"/>
                        <a14:backgroundMark x1="76262" y1="24290" x2="75833" y2="24339"/>
                        <a14:backgroundMark x1="82738" y1="23545" x2="78167" y2="24070"/>
                        <a14:backgroundMark x1="83182" y1="25668" x2="85060" y2="26058"/>
                        <a14:backgroundMark x1="81350" y1="25288" x2="83084" y2="25648"/>
                        <a14:backgroundMark x1="78690" y1="24735" x2="81285" y2="25274"/>
                        <a14:backgroundMark x1="84464" y1="26190" x2="84964" y2="26827"/>
                        <a14:backgroundMark x1="40714" y1="78439" x2="53869" y2="87302"/>
                        <a14:backgroundMark x1="53869" y1="87302" x2="53750" y2="88360"/>
                        <a14:backgroundMark x1="42143" y1="76323" x2="57560" y2="81217"/>
                        <a14:backgroundMark x1="57560" y1="81217" x2="57560" y2="81349"/>
                        <a14:backgroundMark x1="40417" y1="74471" x2="50238" y2="80026"/>
                        <a14:backgroundMark x1="39464" y1="70370" x2="50298" y2="79762"/>
                        <a14:backgroundMark x1="50298" y1="79762" x2="50238" y2="79894"/>
                        <a14:backgroundMark x1="57321" y1="85317" x2="63988" y2="80688"/>
                        <a14:backgroundMark x1="63393" y1="81085" x2="66429" y2="84392"/>
                        <a14:backgroundMark x1="64762" y1="79233" x2="66548" y2="83201"/>
                        <a14:backgroundMark x1="65714" y1="81085" x2="68452" y2="83730"/>
                        <a14:backgroundMark x1="72679" y1="22884" x2="74702" y2="23280"/>
                        <a14:backgroundMark x1="77948" y1="24835" x2="79583" y2="25132"/>
                        <a14:backgroundMark x1="42024" y1="71164" x2="43869" y2="73148"/>
                        <a14:backgroundMark x1="75595" y1="25000" x2="75595" y2="25000"/>
                        <a14:backgroundMark x1="78333" y1="25926" x2="78333" y2="25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65387" y="2022052"/>
            <a:ext cx="9549925" cy="429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37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019F-443D-57BC-ADD2-B9C937503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649604"/>
            <a:ext cx="5486400" cy="3291840"/>
          </a:xfrm>
        </p:spPr>
        <p:txBody>
          <a:bodyPr/>
          <a:lstStyle/>
          <a:p>
            <a:r>
              <a:rPr lang="en-CA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&amp;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25819-1F72-22D3-414A-DC0DF6A756F6}"/>
              </a:ext>
            </a:extLst>
          </p:cNvPr>
          <p:cNvSpPr txBox="1"/>
          <p:nvPr/>
        </p:nvSpPr>
        <p:spPr>
          <a:xfrm>
            <a:off x="6177280" y="4060414"/>
            <a:ext cx="5619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Live Website:</a:t>
            </a:r>
          </a:p>
          <a:p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https://faran-sultan.github.io/GroupD-Car-Rental-Service/</a:t>
            </a:r>
            <a:r>
              <a:rPr lang="en-C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CA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 Code: </a:t>
            </a:r>
          </a:p>
          <a:p>
            <a:r>
              <a:rPr lang="en-CA" sz="2000" dirty="0">
                <a:hlinkClick r:id="rId3"/>
              </a:rPr>
              <a:t>https://github.com/Faran-Sultan/GroupD-Car-Rental-Service</a:t>
            </a:r>
            <a:r>
              <a:rPr lang="en-CA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170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633857"/>
            <a:ext cx="5486400" cy="3291840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59" y="4154178"/>
            <a:ext cx="7321475" cy="2385509"/>
          </a:xfrm>
        </p:spPr>
        <p:txBody>
          <a:bodyPr/>
          <a:lstStyle/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Gained practical experience in web development and data integration.</a:t>
            </a: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Learned to combine visual design with functional analysis.</a:t>
            </a:r>
          </a:p>
          <a:p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Future enhancements: online booking, database. integration, payment system.</a:t>
            </a:r>
            <a:endParaRPr lang="en-CA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3074" name="Picture 2" descr="Thinking Man PNG Transparent Images ...">
            <a:extLst>
              <a:ext uri="{FF2B5EF4-FFF2-40B4-BE49-F238E27FC236}">
                <a16:creationId xmlns:a16="http://schemas.microsoft.com/office/drawing/2014/main" id="{DFDAE326-BBD3-CD72-CEEA-523A23F6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6222" r="92889">
                        <a14:foregroundMark x1="53778" y1="88444" x2="53778" y2="88444"/>
                        <a14:foregroundMark x1="83111" y1="20444" x2="83111" y2="20444"/>
                        <a14:foregroundMark x1="81333" y1="16889" x2="81333" y2="16889"/>
                        <a14:foregroundMark x1="79556" y1="14667" x2="79556" y2="14667"/>
                        <a14:foregroundMark x1="80000" y1="12444" x2="80000" y2="12444"/>
                        <a14:foregroundMark x1="80000" y1="12444" x2="80000" y2="12444"/>
                        <a14:foregroundMark x1="77778" y1="14667" x2="77778" y2="14667"/>
                        <a14:foregroundMark x1="77778" y1="15111" x2="77778" y2="15111"/>
                        <a14:foregroundMark x1="77778" y1="17333" x2="78667" y2="24444"/>
                        <a14:foregroundMark x1="80444" y1="14222" x2="90222" y2="19556"/>
                        <a14:foregroundMark x1="85778" y1="12889" x2="90667" y2="25333"/>
                        <a14:foregroundMark x1="92000" y1="16000" x2="92889" y2="22222"/>
                        <a14:foregroundMark x1="83111" y1="20889" x2="88444" y2="18667"/>
                        <a14:foregroundMark x1="92889" y1="15556" x2="92000" y2="27111"/>
                        <a14:foregroundMark x1="74667" y1="36444" x2="74667" y2="36444"/>
                        <a14:foregroundMark x1="68000" y1="40444" x2="68000" y2="40444"/>
                        <a14:foregroundMark x1="34222" y1="41778" x2="34222" y2="41778"/>
                        <a14:foregroundMark x1="26222" y1="36889" x2="26222" y2="36889"/>
                        <a14:foregroundMark x1="18222" y1="20000" x2="18222" y2="20000"/>
                        <a14:foregroundMark x1="12889" y1="18222" x2="19556" y2="25333"/>
                        <a14:foregroundMark x1="17333" y1="14667" x2="16444" y2="27111"/>
                        <a14:foregroundMark x1="12444" y1="16000" x2="11556" y2="14667"/>
                        <a14:foregroundMark x1="12889" y1="12000" x2="15556" y2="28000"/>
                        <a14:foregroundMark x1="15556" y1="28000" x2="23556" y2="14222"/>
                        <a14:foregroundMark x1="23556" y1="14222" x2="13333" y2="14667"/>
                        <a14:foregroundMark x1="10222" y1="11111" x2="10222" y2="27111"/>
                        <a14:foregroundMark x1="10222" y1="27111" x2="14222" y2="28000"/>
                        <a14:foregroundMark x1="6222" y1="16889" x2="7556" y2="25778"/>
                      </a14:backgroundRemoval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1" y="2508258"/>
            <a:ext cx="329184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FCF7-EFDD-ABA4-ECB7-DBBE4B96B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910" y="678179"/>
            <a:ext cx="5486400" cy="3291840"/>
          </a:xfrm>
        </p:spPr>
        <p:txBody>
          <a:bodyPr/>
          <a:lstStyle/>
          <a:p>
            <a:r>
              <a:rPr lang="en-C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6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364</TotalTime>
  <Words>464</Words>
  <Application>Microsoft Office PowerPoint</Application>
  <PresentationFormat>Widescreen</PresentationFormat>
  <Paragraphs>64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Times New Roman</vt:lpstr>
      <vt:lpstr>Wingdings 2</vt:lpstr>
      <vt:lpstr>Dividend</vt:lpstr>
      <vt:lpstr>Drive Ease</vt:lpstr>
      <vt:lpstr>PROJECT OBJECTIVES</vt:lpstr>
      <vt:lpstr>Website Overview</vt:lpstr>
      <vt:lpstr>HOME PAGE</vt:lpstr>
      <vt:lpstr>PRODUCTS PAGE:</vt:lpstr>
      <vt:lpstr>CONTACT PAGE:</vt:lpstr>
      <vt:lpstr>EXCEL DATA &amp;ANALYSIS</vt:lpstr>
      <vt:lpstr>EXCEL DATA &amp;ANALYSIS</vt:lpstr>
      <vt:lpstr>EXCEL DATA &amp; ANALYSIS</vt:lpstr>
      <vt:lpstr>DESIGN DECISION</vt:lpstr>
      <vt:lpstr>LIVE DEMO &amp; GITHUB</vt:lpstr>
      <vt:lpstr>REFLECTION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Tanvir</dc:creator>
  <cp:lastModifiedBy>Saad Tanvir</cp:lastModifiedBy>
  <cp:revision>9</cp:revision>
  <dcterms:created xsi:type="dcterms:W3CDTF">2025-12-25T15:18:42Z</dcterms:created>
  <dcterms:modified xsi:type="dcterms:W3CDTF">2026-01-05T16:55:44Z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